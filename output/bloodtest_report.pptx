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"/>
            <a:ext cx="9144000" cy="64008"/>
          </a:xfrm>
          <a:prstGeom prst="rect">
            <a:avLst/>
          </a:prstGeom>
          <a:solidFill>
            <a:srgbClr val="158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3840480" cy="4480560"/>
          </a:xfrm>
          <a:prstGeom prst="rect">
            <a:avLst/>
          </a:prstGeom>
          <a:solidFill>
            <a:srgbClr val="0B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91840" y="3200400"/>
            <a:ext cx="4297680" cy="1005840"/>
          </a:xfrm>
          <a:prstGeom prst="roundRect">
            <a:avLst/>
          </a:prstGeom>
          <a:solidFill>
            <a:srgbClr val="DDF5F3"/>
          </a:solidFill>
          <a:ln>
            <a:solidFill>
              <a:srgbClr val="158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6217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Doctor's Report</a:t>
            </a:r>
          </a:p>
          <a:p>
            <a:pPr>
              <a:defRPr sz="1400">
                <a:solidFill>
                  <a:srgbClr val="E1EEF2"/>
                </a:solidFill>
              </a:defRPr>
            </a:pPr>
            <a:r>
              <a:t>Structured OCR results from a German laboratory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5146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Test date: 01.02.22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5 markers extracted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1 notable values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CSV + JSON summary included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3456432"/>
            <a:ext cx="3474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B3D59"/>
                </a:solidFill>
              </a:defRPr>
            </a:pPr>
            <a:r>
              <a:t>5 extracted markers</a:t>
            </a:r>
          </a:p>
          <a:p>
            <a:pPr algn="ctr">
              <a:defRPr sz="1600">
                <a:solidFill>
                  <a:srgbClr val="158C92"/>
                </a:solidFill>
              </a:defRPr>
            </a:pPr>
            <a:r>
              <a:t>1 notable values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"/>
            <a:ext cx="9144000" cy="64008"/>
          </a:xfrm>
          <a:prstGeom prst="rect">
            <a:avLst/>
          </a:prstGeom>
          <a:solidFill>
            <a:srgbClr val="158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3D59"/>
                </a:solidFill>
              </a:rPr>
              <a:t>Executive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9601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464"/>
                </a:solidFill>
              </a:defRPr>
            </a:pPr>
            <a:r>
              <a:t>Clean summary of the extracted blood test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2651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495464"/>
                </a:solidFill>
              </a:rPr>
              <a:t>Total markers</a:t>
            </a:r>
          </a:p>
          <a:p>
            <a:pPr algn="ctr"/>
            <a:r>
              <a:rPr sz="2400" b="1">
                <a:solidFill>
                  <a:srgbClr val="0B3D59"/>
                </a:solidFill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508760"/>
            <a:ext cx="2651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495464"/>
                </a:solidFill>
              </a:rPr>
              <a:t>Normal</a:t>
            </a:r>
          </a:p>
          <a:p>
            <a:pPr algn="ctr"/>
            <a:r>
              <a:rPr sz="2400" b="1">
                <a:solidFill>
                  <a:srgbClr val="0B3D59"/>
                </a:solidFill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2651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495464"/>
                </a:solidFill>
              </a:rPr>
              <a:t>Notable</a:t>
            </a:r>
          </a:p>
          <a:p>
            <a:pPr algn="ctr"/>
            <a:r>
              <a:rPr sz="2400" b="1">
                <a:solidFill>
                  <a:srgbClr val="0B3D59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"/>
            <a:ext cx="9144000" cy="64008"/>
          </a:xfrm>
          <a:prstGeom prst="rect">
            <a:avLst/>
          </a:prstGeom>
          <a:solidFill>
            <a:srgbClr val="158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3D59"/>
                </a:solidFill>
              </a:rPr>
              <a:t>Normal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9601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464"/>
                </a:solidFill>
              </a:defRPr>
            </a:pPr>
            <a:r>
              <a:t>Values inside the reference range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17320"/>
          <a:ext cx="8412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188720"/>
                <a:gridCol w="1097280"/>
                <a:gridCol w="3200400"/>
              </a:tblGrid>
              <a:tr h="84124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B3D59"/>
                          </a:solidFill>
                        </a:defRPr>
                      </a:pPr>
                      <a:r>
                        <a:t>Marker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B3D59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B3D59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B3D59"/>
                          </a:solidFill>
                        </a:defRPr>
                      </a:pPr>
                      <a:r>
                        <a:t>Reference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Calcium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mmol/l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2.05- 212.55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HDL- Cholesterin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mg/dl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&gt; 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Kreatinin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mg/dl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&lt; 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Triglyceride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mg/dl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&lt; 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"/>
            <a:ext cx="9144000" cy="64008"/>
          </a:xfrm>
          <a:prstGeom prst="rect">
            <a:avLst/>
          </a:prstGeom>
          <a:solidFill>
            <a:srgbClr val="158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3D59"/>
                </a:solidFill>
              </a:rPr>
              <a:t>Abnormal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9601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464"/>
                </a:solidFill>
              </a:defRPr>
            </a:pPr>
            <a:r>
              <a:t>Values outside or close to the reference range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17320"/>
          <a:ext cx="8412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188720"/>
                <a:gridCol w="1097280"/>
                <a:gridCol w="3200400"/>
              </a:tblGrid>
              <a:tr h="21031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B3D59"/>
                          </a:solidFill>
                        </a:defRPr>
                      </a:pPr>
                      <a:r>
                        <a:t>Marker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B3D59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B3D59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B3D59"/>
                          </a:solidFill>
                        </a:defRPr>
                      </a:pPr>
                      <a:r>
                        <a:t>Reference</a:t>
                      </a:r>
                    </a:p>
                  </a:txBody>
                  <a:tcPr/>
                </a:tc>
              </a:tr>
              <a:tr h="21031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Cholesterin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mg/dl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&lt;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"/>
            <a:ext cx="9144000" cy="64008"/>
          </a:xfrm>
          <a:prstGeom prst="rect">
            <a:avLst/>
          </a:prstGeom>
          <a:solidFill>
            <a:srgbClr val="158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3D59"/>
                </a:solidFill>
              </a:rPr>
              <a:t>Abnormal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9601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464"/>
                </a:solidFill>
              </a:defRPr>
            </a:pPr>
            <a:r>
              <a:t>Values outside or close to the reference range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17320"/>
          <a:ext cx="78638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05840"/>
                <a:gridCol w="914400"/>
                <a:gridCol w="2560320"/>
                <a:gridCol w="1097280"/>
              </a:tblGrid>
              <a:tr h="21031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B3D59"/>
                          </a:solidFill>
                        </a:defRPr>
                      </a:pPr>
                      <a:r>
                        <a:t>Marker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B3D59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B3D59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B3D59"/>
                          </a:solidFill>
                        </a:defRPr>
                      </a:pPr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B3D59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2103120">
                <a:tc>
                  <a:txBody>
                    <a:bodyPr/>
                    <a:lstStyle/>
                    <a:p>
                      <a:r>
                        <a:t>Cholesterin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197.0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mg/dl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&lt;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borderline</a:t>
                      </a:r>
                    </a:p>
                  </a:txBody>
                  <a:tcPr>
                    <a:solidFill>
                      <a:srgbClr val="F9A8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"/>
            <a:ext cx="9144000" cy="64008"/>
          </a:xfrm>
          <a:prstGeom prst="rect">
            <a:avLst/>
          </a:prstGeom>
          <a:solidFill>
            <a:srgbClr val="158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3D59"/>
                </a:solidFill>
              </a:rPr>
              <a:t>Visual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9601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464"/>
                </a:solidFill>
              </a:defRPr>
            </a:pPr>
            <a:r>
              <a:t>Simple charts derived from the extracted values</a:t>
            </a:r>
          </a:p>
        </p:txBody>
      </p:sp>
      <p:pic>
        <p:nvPicPr>
          <p:cNvPr id="6" name="Picture 5" descr="ppt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4434840" cy="2586990"/>
          </a:xfrm>
          <a:prstGeom prst="rect">
            <a:avLst/>
          </a:prstGeom>
        </p:spPr>
      </p:pic>
      <p:pic>
        <p:nvPicPr>
          <p:cNvPr id="7" name="Picture 6" descr="ppt_status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600200"/>
            <a:ext cx="3337560" cy="25031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"/>
            <a:ext cx="9144000" cy="64008"/>
          </a:xfrm>
          <a:prstGeom prst="rect">
            <a:avLst/>
          </a:prstGeom>
          <a:solidFill>
            <a:srgbClr val="158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3D59"/>
                </a:solidFill>
              </a:rP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9601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464"/>
                </a:solidFill>
              </a:defRPr>
            </a:pPr>
            <a:r>
              <a:t>Data-driven next steps based on notable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7863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95464"/>
                </a:solidFill>
              </a:defRPr>
            </a:pPr>
            <a:r>
              <a:t>Review lipid values with your clinician, especially if they remain above target on repeat testing.</a:t>
            </a:r>
          </a:p>
          <a:p>
            <a:pPr>
              <a:defRPr sz="1800">
                <a:solidFill>
                  <a:srgbClr val="495464"/>
                </a:solidFill>
              </a:defRPr>
            </a:pPr>
            <a:r>
              <a:t>This report is informational and does not replace medical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